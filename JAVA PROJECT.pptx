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4" r:id="rId8"/>
    <p:sldId id="265" r:id="rId9"/>
    <p:sldId id="262" r:id="rId10"/>
    <p:sldId id="263"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590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32B"/>
        </a:solidFill>
        <a:effectLst/>
      </p:bgPr>
    </p:bg>
    <p:spTree>
      <p:nvGrpSpPr>
        <p:cNvPr id="1" name=""/>
        <p:cNvGrpSpPr/>
        <p:nvPr/>
      </p:nvGrpSpPr>
      <p:grpSpPr>
        <a:xfrm>
          <a:off x="0" y="0"/>
          <a:ext cx="0" cy="0"/>
          <a:chOff x="0" y="0"/>
          <a:chExt cx="0" cy="0"/>
        </a:xfrm>
      </p:grpSpPr>
      <p:sp>
        <p:nvSpPr>
          <p:cNvPr id="2" name="Text 0"/>
          <p:cNvSpPr txBox="1"/>
          <p:nvPr/>
        </p:nvSpPr>
        <p:spPr>
          <a:xfrm>
            <a:off x="457200" y="372794"/>
            <a:ext cx="8046720"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University Grade &amp; Attendance System</a:t>
            </a:r>
            <a:endParaRPr lang="en-US" sz="4000" dirty="0"/>
          </a:p>
        </p:txBody>
      </p:sp>
      <p:sp>
        <p:nvSpPr>
          <p:cNvPr id="3" name="Text 1"/>
          <p:cNvSpPr txBox="1"/>
          <p:nvPr/>
        </p:nvSpPr>
        <p:spPr>
          <a:xfrm>
            <a:off x="457200" y="1786597"/>
            <a:ext cx="8046720" cy="457200"/>
          </a:xfrm>
          <a:prstGeom prst="rect">
            <a:avLst/>
          </a:prstGeom>
          <a:noFill/>
          <a:ln/>
        </p:spPr>
        <p:txBody>
          <a:bodyPr wrap="square" lIns="0" tIns="0" rIns="0" bIns="0" rtlCol="0" anchor="ctr"/>
          <a:lstStyle/>
          <a:p>
            <a:pPr marL="0" indent="0">
              <a:buNone/>
            </a:pPr>
            <a:r>
              <a:rPr lang="en-US" sz="2000" dirty="0">
                <a:solidFill>
                  <a:srgbClr val="A8D5BA"/>
                </a:solidFill>
                <a:latin typeface="Calibri" pitchFamily="34" charset="0"/>
                <a:ea typeface="Calibri" pitchFamily="34" charset="-122"/>
                <a:cs typeface="Calibri" pitchFamily="34" charset="-120"/>
              </a:rPr>
              <a:t>A Java class project built on course modules 1 to 3</a:t>
            </a:r>
            <a:endParaRPr lang="en-US" sz="2000" dirty="0"/>
          </a:p>
        </p:txBody>
      </p:sp>
      <p:sp>
        <p:nvSpPr>
          <p:cNvPr id="4" name="Shape 2"/>
          <p:cNvSpPr/>
          <p:nvPr/>
        </p:nvSpPr>
        <p:spPr>
          <a:xfrm>
            <a:off x="640080" y="2771335"/>
            <a:ext cx="548640" cy="548640"/>
          </a:xfrm>
          <a:prstGeom prst="ellipse">
            <a:avLst/>
          </a:prstGeom>
          <a:solidFill>
            <a:srgbClr val="E9A820"/>
          </a:solidFill>
          <a:ln w="12700">
            <a:solidFill>
              <a:srgbClr val="E9A820"/>
            </a:solidFill>
            <a:prstDash val="solid"/>
          </a:ln>
        </p:spPr>
      </p:sp>
      <p:sp>
        <p:nvSpPr>
          <p:cNvPr id="5" name="Text 3"/>
          <p:cNvSpPr txBox="1"/>
          <p:nvPr/>
        </p:nvSpPr>
        <p:spPr>
          <a:xfrm>
            <a:off x="640080" y="2771335"/>
            <a:ext cx="548640" cy="548640"/>
          </a:xfrm>
          <a:prstGeom prst="rect">
            <a:avLst/>
          </a:prstGeom>
          <a:noFill/>
          <a:ln/>
        </p:spPr>
        <p:txBody>
          <a:bodyPr wrap="square" lIns="0" tIns="0" rIns="0" bIns="0" rtlCol="0" anchor="ctr"/>
          <a:lstStyle/>
          <a:p>
            <a:pPr marL="0" indent="0" algn="ctr">
              <a:buNone/>
            </a:pPr>
            <a:r>
              <a:rPr lang="en-US" sz="2000" b="1" dirty="0">
                <a:solidFill>
                  <a:srgbClr val="14332B"/>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548640" y="3411415"/>
            <a:ext cx="146304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Abstract</a:t>
            </a:r>
            <a:endParaRPr lang="en-US" sz="1200" dirty="0"/>
          </a:p>
        </p:txBody>
      </p:sp>
      <p:sp>
        <p:nvSpPr>
          <p:cNvPr id="7" name="Shape 5"/>
          <p:cNvSpPr/>
          <p:nvPr/>
        </p:nvSpPr>
        <p:spPr>
          <a:xfrm>
            <a:off x="2286000" y="2771335"/>
            <a:ext cx="548640" cy="548640"/>
          </a:xfrm>
          <a:prstGeom prst="ellipse">
            <a:avLst/>
          </a:prstGeom>
          <a:solidFill>
            <a:srgbClr val="1F6F4F"/>
          </a:solidFill>
          <a:ln w="12700">
            <a:solidFill>
              <a:srgbClr val="1F6F4F"/>
            </a:solidFill>
            <a:prstDash val="solid"/>
          </a:ln>
        </p:spPr>
      </p:sp>
      <p:sp>
        <p:nvSpPr>
          <p:cNvPr id="8" name="Text 6"/>
          <p:cNvSpPr txBox="1"/>
          <p:nvPr/>
        </p:nvSpPr>
        <p:spPr>
          <a:xfrm>
            <a:off x="2286000" y="2771335"/>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9" name="Text 7"/>
          <p:cNvSpPr txBox="1"/>
          <p:nvPr/>
        </p:nvSpPr>
        <p:spPr>
          <a:xfrm>
            <a:off x="2194560" y="3411415"/>
            <a:ext cx="146304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Pros &amp; Cons</a:t>
            </a:r>
            <a:endParaRPr lang="en-US" sz="1200" dirty="0"/>
          </a:p>
        </p:txBody>
      </p:sp>
      <p:sp>
        <p:nvSpPr>
          <p:cNvPr id="10" name="Shape 8"/>
          <p:cNvSpPr/>
          <p:nvPr/>
        </p:nvSpPr>
        <p:spPr>
          <a:xfrm>
            <a:off x="3931920" y="2771335"/>
            <a:ext cx="548640" cy="548640"/>
          </a:xfrm>
          <a:prstGeom prst="ellipse">
            <a:avLst/>
          </a:prstGeom>
          <a:solidFill>
            <a:srgbClr val="E9A820"/>
          </a:solidFill>
          <a:ln w="12700">
            <a:solidFill>
              <a:srgbClr val="E9A820"/>
            </a:solidFill>
            <a:prstDash val="solid"/>
          </a:ln>
        </p:spPr>
      </p:sp>
      <p:sp>
        <p:nvSpPr>
          <p:cNvPr id="11" name="Text 9"/>
          <p:cNvSpPr txBox="1"/>
          <p:nvPr/>
        </p:nvSpPr>
        <p:spPr>
          <a:xfrm>
            <a:off x="3931920" y="2771335"/>
            <a:ext cx="548640" cy="548640"/>
          </a:xfrm>
          <a:prstGeom prst="rect">
            <a:avLst/>
          </a:prstGeom>
          <a:noFill/>
          <a:ln/>
        </p:spPr>
        <p:txBody>
          <a:bodyPr wrap="square" lIns="0" tIns="0" rIns="0" bIns="0" rtlCol="0" anchor="ctr"/>
          <a:lstStyle/>
          <a:p>
            <a:pPr marL="0" indent="0" algn="ctr">
              <a:buNone/>
            </a:pPr>
            <a:r>
              <a:rPr lang="en-US" sz="2000" b="1" dirty="0">
                <a:solidFill>
                  <a:srgbClr val="14332B"/>
                </a:solidFill>
                <a:latin typeface="Cambria" pitchFamily="34" charset="0"/>
                <a:ea typeface="Cambria" pitchFamily="34" charset="-122"/>
                <a:cs typeface="Cambria" pitchFamily="34" charset="-120"/>
              </a:rPr>
              <a:t>3</a:t>
            </a:r>
            <a:endParaRPr lang="en-US" sz="2000" dirty="0"/>
          </a:p>
        </p:txBody>
      </p:sp>
      <p:sp>
        <p:nvSpPr>
          <p:cNvPr id="12" name="Text 10"/>
          <p:cNvSpPr txBox="1"/>
          <p:nvPr/>
        </p:nvSpPr>
        <p:spPr>
          <a:xfrm>
            <a:off x="3840480" y="3411415"/>
            <a:ext cx="146304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Implementation</a:t>
            </a:r>
            <a:endParaRPr lang="en-US" sz="1200" dirty="0"/>
          </a:p>
        </p:txBody>
      </p:sp>
      <p:sp>
        <p:nvSpPr>
          <p:cNvPr id="13" name="Shape 11"/>
          <p:cNvSpPr/>
          <p:nvPr/>
        </p:nvSpPr>
        <p:spPr>
          <a:xfrm>
            <a:off x="5577840" y="2771335"/>
            <a:ext cx="548640" cy="548640"/>
          </a:xfrm>
          <a:prstGeom prst="ellipse">
            <a:avLst/>
          </a:prstGeom>
          <a:solidFill>
            <a:srgbClr val="1F6F4F"/>
          </a:solidFill>
          <a:ln w="12700">
            <a:solidFill>
              <a:srgbClr val="1F6F4F"/>
            </a:solidFill>
            <a:prstDash val="solid"/>
          </a:ln>
        </p:spPr>
      </p:sp>
      <p:sp>
        <p:nvSpPr>
          <p:cNvPr id="14" name="Text 12"/>
          <p:cNvSpPr txBox="1"/>
          <p:nvPr/>
        </p:nvSpPr>
        <p:spPr>
          <a:xfrm>
            <a:off x="5577840" y="2771335"/>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5" name="Text 13"/>
          <p:cNvSpPr txBox="1"/>
          <p:nvPr/>
        </p:nvSpPr>
        <p:spPr>
          <a:xfrm>
            <a:off x="5486400" y="3411415"/>
            <a:ext cx="146304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Output</a:t>
            </a:r>
            <a:endParaRPr lang="en-US" sz="1200" dirty="0"/>
          </a:p>
        </p:txBody>
      </p:sp>
      <p:sp>
        <p:nvSpPr>
          <p:cNvPr id="16" name="Shape 14"/>
          <p:cNvSpPr/>
          <p:nvPr/>
        </p:nvSpPr>
        <p:spPr>
          <a:xfrm>
            <a:off x="7223760" y="2771335"/>
            <a:ext cx="548640" cy="548640"/>
          </a:xfrm>
          <a:prstGeom prst="ellipse">
            <a:avLst/>
          </a:prstGeom>
          <a:solidFill>
            <a:srgbClr val="E9A820"/>
          </a:solidFill>
          <a:ln w="12700">
            <a:solidFill>
              <a:srgbClr val="E9A820"/>
            </a:solidFill>
            <a:prstDash val="solid"/>
          </a:ln>
        </p:spPr>
      </p:sp>
      <p:sp>
        <p:nvSpPr>
          <p:cNvPr id="17" name="Text 15"/>
          <p:cNvSpPr txBox="1"/>
          <p:nvPr/>
        </p:nvSpPr>
        <p:spPr>
          <a:xfrm>
            <a:off x="7223760" y="2771335"/>
            <a:ext cx="548640" cy="548640"/>
          </a:xfrm>
          <a:prstGeom prst="rect">
            <a:avLst/>
          </a:prstGeom>
          <a:noFill/>
          <a:ln/>
        </p:spPr>
        <p:txBody>
          <a:bodyPr wrap="square" lIns="0" tIns="0" rIns="0" bIns="0" rtlCol="0" anchor="ctr"/>
          <a:lstStyle/>
          <a:p>
            <a:pPr marL="0" indent="0" algn="ctr">
              <a:buNone/>
            </a:pPr>
            <a:r>
              <a:rPr lang="en-US" sz="2000" b="1" dirty="0">
                <a:solidFill>
                  <a:srgbClr val="14332B"/>
                </a:solidFill>
                <a:latin typeface="Cambria" pitchFamily="34" charset="0"/>
                <a:ea typeface="Cambria" pitchFamily="34" charset="-122"/>
                <a:cs typeface="Cambria" pitchFamily="34" charset="-120"/>
              </a:rPr>
              <a:t>5</a:t>
            </a:r>
            <a:endParaRPr lang="en-US" sz="2000" dirty="0"/>
          </a:p>
        </p:txBody>
      </p:sp>
      <p:sp>
        <p:nvSpPr>
          <p:cNvPr id="18" name="Text 16"/>
          <p:cNvSpPr txBox="1"/>
          <p:nvPr/>
        </p:nvSpPr>
        <p:spPr>
          <a:xfrm>
            <a:off x="7132320" y="3411415"/>
            <a:ext cx="146304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Conclusion</a:t>
            </a:r>
            <a:endParaRPr lang="en-US" sz="1200" dirty="0"/>
          </a:p>
        </p:txBody>
      </p:sp>
      <p:sp>
        <p:nvSpPr>
          <p:cNvPr id="20" name="TextBox 18">
            <a:extLst>
              <a:ext uri="{FF2B5EF4-FFF2-40B4-BE49-F238E27FC236}">
                <a16:creationId xmlns:a16="http://schemas.microsoft.com/office/drawing/2014/main" id="{5ACAE402-D1D0-9ACE-754D-610CB1661801}"/>
              </a:ext>
            </a:extLst>
          </p:cNvPr>
          <p:cNvSpPr txBox="1"/>
          <p:nvPr/>
        </p:nvSpPr>
        <p:spPr>
          <a:xfrm>
            <a:off x="330591" y="4220170"/>
            <a:ext cx="2504049" cy="92333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latin typeface="Cambria" panose="02040503050406030204" pitchFamily="18" charset="0"/>
                <a:ea typeface="Cambria" panose="02040503050406030204" pitchFamily="18" charset="0"/>
              </a:rPr>
              <a:t>M.Haasini-2620030081</a:t>
            </a:r>
          </a:p>
          <a:p>
            <a:r>
              <a:rPr lang="en-US" dirty="0">
                <a:solidFill>
                  <a:schemeClr val="bg1"/>
                </a:solidFill>
                <a:latin typeface="Cambria" panose="02040503050406030204" pitchFamily="18" charset="0"/>
                <a:ea typeface="Cambria" panose="02040503050406030204" pitchFamily="18" charset="0"/>
              </a:rPr>
              <a:t>B.Aviyah-2620030112</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640080" cy="640080"/>
          </a:xfrm>
          <a:prstGeom prst="ellipse">
            <a:avLst/>
          </a:prstGeom>
          <a:solidFill>
            <a:srgbClr val="1F6F4F"/>
          </a:solidFill>
          <a:ln w="12700">
            <a:solidFill>
              <a:srgbClr val="1F6F4F"/>
            </a:solidFill>
            <a:prstDash val="solid"/>
          </a:ln>
        </p:spPr>
      </p:sp>
      <p:sp>
        <p:nvSpPr>
          <p:cNvPr id="3" name="Text 1"/>
          <p:cNvSpPr txBox="1"/>
          <p:nvPr/>
        </p:nvSpPr>
        <p:spPr>
          <a:xfrm>
            <a:off x="457200" y="4114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4" name="Text 2"/>
          <p:cNvSpPr txBox="1"/>
          <p:nvPr/>
        </p:nvSpPr>
        <p:spPr>
          <a:xfrm>
            <a:off x="1325880" y="365760"/>
            <a:ext cx="5486400" cy="274320"/>
          </a:xfrm>
          <a:prstGeom prst="rect">
            <a:avLst/>
          </a:prstGeom>
          <a:noFill/>
          <a:ln/>
        </p:spPr>
        <p:txBody>
          <a:bodyPr wrap="square" lIns="0" tIns="0" rIns="0" bIns="0" rtlCol="0" anchor="ctr"/>
          <a:lstStyle/>
          <a:p>
            <a:pPr marL="0" indent="0">
              <a:buNone/>
            </a:pPr>
            <a:r>
              <a:rPr lang="en-US" sz="1200" b="1" kern="0" spc="300" dirty="0">
                <a:solidFill>
                  <a:srgbClr val="8A5A00"/>
                </a:solidFill>
                <a:latin typeface="Calibri" pitchFamily="34" charset="0"/>
                <a:ea typeface="Calibri" pitchFamily="34" charset="-122"/>
                <a:cs typeface="Calibri" pitchFamily="34" charset="-120"/>
              </a:rPr>
              <a:t>ABSTRACT</a:t>
            </a:r>
            <a:endParaRPr lang="en-US" sz="1200" dirty="0"/>
          </a:p>
        </p:txBody>
      </p:sp>
      <p:sp>
        <p:nvSpPr>
          <p:cNvPr id="5" name="Text 3"/>
          <p:cNvSpPr txBox="1"/>
          <p:nvPr/>
        </p:nvSpPr>
        <p:spPr>
          <a:xfrm>
            <a:off x="1325880" y="621792"/>
            <a:ext cx="7315200" cy="502920"/>
          </a:xfrm>
          <a:prstGeom prst="rect">
            <a:avLst/>
          </a:prstGeom>
          <a:noFill/>
          <a:ln/>
        </p:spPr>
        <p:txBody>
          <a:bodyPr wrap="square" lIns="0" tIns="0" rIns="0" bIns="0" rtlCol="0" anchor="ctr"/>
          <a:lstStyle/>
          <a:p>
            <a:pPr marL="0" indent="0">
              <a:buNone/>
            </a:pPr>
            <a:r>
              <a:rPr lang="en-US" sz="3000" b="1" dirty="0">
                <a:solidFill>
                  <a:srgbClr val="14332B"/>
                </a:solidFill>
                <a:latin typeface="Cambria" pitchFamily="34" charset="0"/>
                <a:ea typeface="Cambria" pitchFamily="34" charset="-122"/>
                <a:cs typeface="Cambria" pitchFamily="34" charset="-120"/>
              </a:rPr>
              <a:t>Abstract</a:t>
            </a:r>
            <a:endParaRPr lang="en-US" sz="3000" dirty="0"/>
          </a:p>
        </p:txBody>
      </p:sp>
      <p:sp>
        <p:nvSpPr>
          <p:cNvPr id="6" name="Text 4"/>
          <p:cNvSpPr txBox="1"/>
          <p:nvPr/>
        </p:nvSpPr>
        <p:spPr>
          <a:xfrm>
            <a:off x="457200" y="1371600"/>
            <a:ext cx="8229600" cy="1554480"/>
          </a:xfrm>
          <a:prstGeom prst="rect">
            <a:avLst/>
          </a:prstGeom>
          <a:noFill/>
          <a:ln/>
        </p:spPr>
        <p:txBody>
          <a:bodyPr wrap="square" lIns="0" tIns="0" rIns="0" bIns="0" rtlCol="0" anchor="t"/>
          <a:lstStyle/>
          <a:p>
            <a:pPr marL="0" indent="0">
              <a:buNone/>
            </a:pPr>
            <a:r>
              <a:rPr lang="en-US" sz="1700" dirty="0">
                <a:solidFill>
                  <a:srgbClr val="1D2B25"/>
                </a:solidFill>
                <a:latin typeface="Calibri" pitchFamily="34" charset="0"/>
                <a:ea typeface="Calibri" pitchFamily="34" charset="-122"/>
                <a:cs typeface="Calibri" pitchFamily="34" charset="-120"/>
              </a:rPr>
              <a:t>A console-based Java application that manages student marks and attendance for a university course. It calculates each student’s average, assigns a letter grade and flags attendance below 75%. It applies the first three course modules: problem solving and Java fundamentals, control flow, and methods with recursion and arrays.</a:t>
            </a:r>
            <a:endParaRPr lang="en-US" sz="1700" dirty="0"/>
          </a:p>
        </p:txBody>
      </p:sp>
      <p:sp>
        <p:nvSpPr>
          <p:cNvPr id="7" name="Shape 5"/>
          <p:cNvSpPr/>
          <p:nvPr/>
        </p:nvSpPr>
        <p:spPr>
          <a:xfrm>
            <a:off x="457200" y="3200400"/>
            <a:ext cx="2468880" cy="1371600"/>
          </a:xfrm>
          <a:prstGeom prst="roundRect">
            <a:avLst>
              <a:gd name="adj" fmla="val 8000"/>
            </a:avLst>
          </a:prstGeom>
          <a:solidFill>
            <a:srgbClr val="E6F2EB"/>
          </a:solidFill>
          <a:ln w="12700">
            <a:solidFill>
              <a:srgbClr val="E6F2EB"/>
            </a:solidFill>
            <a:prstDash val="solid"/>
          </a:ln>
        </p:spPr>
      </p:sp>
      <p:sp>
        <p:nvSpPr>
          <p:cNvPr id="8" name="Text 6"/>
          <p:cNvSpPr txBox="1"/>
          <p:nvPr/>
        </p:nvSpPr>
        <p:spPr>
          <a:xfrm>
            <a:off x="640080" y="3337560"/>
            <a:ext cx="2103120" cy="365760"/>
          </a:xfrm>
          <a:prstGeom prst="rect">
            <a:avLst/>
          </a:prstGeom>
          <a:noFill/>
          <a:ln/>
        </p:spPr>
        <p:txBody>
          <a:bodyPr wrap="square" lIns="0" tIns="0" rIns="0" bIns="0" rtlCol="0" anchor="ctr"/>
          <a:lstStyle/>
          <a:p>
            <a:pPr marL="0" indent="0">
              <a:buNone/>
            </a:pPr>
            <a:r>
              <a:rPr lang="en-US" sz="2000" b="1" dirty="0">
                <a:solidFill>
                  <a:srgbClr val="1F6F4F"/>
                </a:solidFill>
                <a:latin typeface="Cambria" pitchFamily="34" charset="0"/>
                <a:ea typeface="Cambria" pitchFamily="34" charset="-122"/>
                <a:cs typeface="Cambria" pitchFamily="34" charset="-120"/>
              </a:rPr>
              <a:t>Input</a:t>
            </a:r>
            <a:endParaRPr lang="en-US" sz="2000" dirty="0"/>
          </a:p>
        </p:txBody>
      </p:sp>
      <p:sp>
        <p:nvSpPr>
          <p:cNvPr id="9" name="Text 7"/>
          <p:cNvSpPr txBox="1"/>
          <p:nvPr/>
        </p:nvSpPr>
        <p:spPr>
          <a:xfrm>
            <a:off x="640080" y="3749040"/>
            <a:ext cx="2103120" cy="685800"/>
          </a:xfrm>
          <a:prstGeom prst="rect">
            <a:avLst/>
          </a:prstGeom>
          <a:noFill/>
          <a:ln/>
        </p:spPr>
        <p:txBody>
          <a:bodyPr wrap="square" lIns="0" tIns="0" rIns="0" bIns="0" rtlCol="0" anchor="t"/>
          <a:lstStyle/>
          <a:p>
            <a:pPr marL="0" indent="0">
              <a:buNone/>
            </a:pPr>
            <a:r>
              <a:rPr lang="en-US" sz="1500" dirty="0">
                <a:solidFill>
                  <a:srgbClr val="1D2B25"/>
                </a:solidFill>
                <a:latin typeface="Calibri" pitchFamily="34" charset="0"/>
                <a:ea typeface="Calibri" pitchFamily="34" charset="-122"/>
                <a:cs typeface="Calibri" pitchFamily="34" charset="-120"/>
              </a:rPr>
              <a:t>Marks and attendance entered</a:t>
            </a:r>
            <a:endParaRPr lang="en-US" sz="1500" dirty="0"/>
          </a:p>
        </p:txBody>
      </p:sp>
      <p:sp>
        <p:nvSpPr>
          <p:cNvPr id="10" name="Text 8"/>
          <p:cNvSpPr txBox="1"/>
          <p:nvPr/>
        </p:nvSpPr>
        <p:spPr>
          <a:xfrm>
            <a:off x="2926080" y="3611880"/>
            <a:ext cx="411480" cy="548640"/>
          </a:xfrm>
          <a:prstGeom prst="rect">
            <a:avLst/>
          </a:prstGeom>
          <a:noFill/>
          <a:ln/>
        </p:spPr>
        <p:txBody>
          <a:bodyPr wrap="square" lIns="0" tIns="0" rIns="0" bIns="0" rtlCol="0" anchor="ctr"/>
          <a:lstStyle/>
          <a:p>
            <a:pPr marL="0" indent="0" algn="ctr">
              <a:buNone/>
            </a:pPr>
            <a:r>
              <a:rPr lang="en-US" sz="2600" b="1" dirty="0">
                <a:solidFill>
                  <a:srgbClr val="8A5A00"/>
                </a:solidFill>
                <a:latin typeface="Calibri" pitchFamily="34" charset="0"/>
                <a:ea typeface="Calibri" pitchFamily="34" charset="-122"/>
                <a:cs typeface="Calibri" pitchFamily="34" charset="-120"/>
              </a:rPr>
              <a:t>→</a:t>
            </a:r>
            <a:endParaRPr lang="en-US" sz="2600" dirty="0"/>
          </a:p>
        </p:txBody>
      </p:sp>
      <p:sp>
        <p:nvSpPr>
          <p:cNvPr id="11" name="Shape 9"/>
          <p:cNvSpPr/>
          <p:nvPr/>
        </p:nvSpPr>
        <p:spPr>
          <a:xfrm>
            <a:off x="3337560" y="3200400"/>
            <a:ext cx="2468880" cy="1371600"/>
          </a:xfrm>
          <a:prstGeom prst="roundRect">
            <a:avLst>
              <a:gd name="adj" fmla="val 8000"/>
            </a:avLst>
          </a:prstGeom>
          <a:solidFill>
            <a:srgbClr val="E6F2EB"/>
          </a:solidFill>
          <a:ln w="12700">
            <a:solidFill>
              <a:srgbClr val="E6F2EB"/>
            </a:solidFill>
            <a:prstDash val="solid"/>
          </a:ln>
        </p:spPr>
      </p:sp>
      <p:sp>
        <p:nvSpPr>
          <p:cNvPr id="12" name="Text 10"/>
          <p:cNvSpPr txBox="1"/>
          <p:nvPr/>
        </p:nvSpPr>
        <p:spPr>
          <a:xfrm>
            <a:off x="3520440" y="3337560"/>
            <a:ext cx="2103120" cy="365760"/>
          </a:xfrm>
          <a:prstGeom prst="rect">
            <a:avLst/>
          </a:prstGeom>
          <a:noFill/>
          <a:ln/>
        </p:spPr>
        <p:txBody>
          <a:bodyPr wrap="square" lIns="0" tIns="0" rIns="0" bIns="0" rtlCol="0" anchor="ctr"/>
          <a:lstStyle/>
          <a:p>
            <a:pPr marL="0" indent="0">
              <a:buNone/>
            </a:pPr>
            <a:r>
              <a:rPr lang="en-US" sz="2000" b="1" dirty="0">
                <a:solidFill>
                  <a:srgbClr val="1F6F4F"/>
                </a:solidFill>
                <a:latin typeface="Cambria" pitchFamily="34" charset="0"/>
                <a:ea typeface="Cambria" pitchFamily="34" charset="-122"/>
                <a:cs typeface="Cambria" pitchFamily="34" charset="-120"/>
              </a:rPr>
              <a:t>Process</a:t>
            </a:r>
            <a:endParaRPr lang="en-US" sz="2000" dirty="0"/>
          </a:p>
        </p:txBody>
      </p:sp>
      <p:sp>
        <p:nvSpPr>
          <p:cNvPr id="13" name="Text 11"/>
          <p:cNvSpPr txBox="1"/>
          <p:nvPr/>
        </p:nvSpPr>
        <p:spPr>
          <a:xfrm>
            <a:off x="3520440" y="3749040"/>
            <a:ext cx="2103120" cy="685800"/>
          </a:xfrm>
          <a:prstGeom prst="rect">
            <a:avLst/>
          </a:prstGeom>
          <a:noFill/>
          <a:ln/>
        </p:spPr>
        <p:txBody>
          <a:bodyPr wrap="square" lIns="0" tIns="0" rIns="0" bIns="0" rtlCol="0" anchor="t"/>
          <a:lstStyle/>
          <a:p>
            <a:pPr marL="0" indent="0">
              <a:buNone/>
            </a:pPr>
            <a:r>
              <a:rPr lang="en-US" sz="1500" dirty="0">
                <a:solidFill>
                  <a:srgbClr val="1D2B25"/>
                </a:solidFill>
                <a:latin typeface="Calibri" pitchFamily="34" charset="0"/>
                <a:ea typeface="Calibri" pitchFamily="34" charset="-122"/>
                <a:cs typeface="Calibri" pitchFamily="34" charset="-120"/>
              </a:rPr>
              <a:t>Average, grade and shortage computed</a:t>
            </a:r>
            <a:endParaRPr lang="en-US" sz="1500" dirty="0"/>
          </a:p>
        </p:txBody>
      </p:sp>
      <p:sp>
        <p:nvSpPr>
          <p:cNvPr id="14" name="Text 12"/>
          <p:cNvSpPr txBox="1"/>
          <p:nvPr/>
        </p:nvSpPr>
        <p:spPr>
          <a:xfrm>
            <a:off x="5806440" y="3611880"/>
            <a:ext cx="411480" cy="548640"/>
          </a:xfrm>
          <a:prstGeom prst="rect">
            <a:avLst/>
          </a:prstGeom>
          <a:noFill/>
          <a:ln/>
        </p:spPr>
        <p:txBody>
          <a:bodyPr wrap="square" lIns="0" tIns="0" rIns="0" bIns="0" rtlCol="0" anchor="ctr"/>
          <a:lstStyle/>
          <a:p>
            <a:pPr marL="0" indent="0" algn="ctr">
              <a:buNone/>
            </a:pPr>
            <a:r>
              <a:rPr lang="en-US" sz="2600" b="1" dirty="0">
                <a:solidFill>
                  <a:srgbClr val="8A5A00"/>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6217920" y="3200400"/>
            <a:ext cx="2468880" cy="1371600"/>
          </a:xfrm>
          <a:prstGeom prst="roundRect">
            <a:avLst>
              <a:gd name="adj" fmla="val 8000"/>
            </a:avLst>
          </a:prstGeom>
          <a:solidFill>
            <a:srgbClr val="E6F2EB"/>
          </a:solidFill>
          <a:ln w="12700">
            <a:solidFill>
              <a:srgbClr val="E6F2EB"/>
            </a:solidFill>
            <a:prstDash val="solid"/>
          </a:ln>
        </p:spPr>
      </p:sp>
      <p:sp>
        <p:nvSpPr>
          <p:cNvPr id="16" name="Text 14"/>
          <p:cNvSpPr txBox="1"/>
          <p:nvPr/>
        </p:nvSpPr>
        <p:spPr>
          <a:xfrm>
            <a:off x="6400800" y="3337560"/>
            <a:ext cx="2103120" cy="365760"/>
          </a:xfrm>
          <a:prstGeom prst="rect">
            <a:avLst/>
          </a:prstGeom>
          <a:noFill/>
          <a:ln/>
        </p:spPr>
        <p:txBody>
          <a:bodyPr wrap="square" lIns="0" tIns="0" rIns="0" bIns="0" rtlCol="0" anchor="ctr"/>
          <a:lstStyle/>
          <a:p>
            <a:pPr marL="0" indent="0">
              <a:buNone/>
            </a:pPr>
            <a:r>
              <a:rPr lang="en-US" sz="2000" b="1" dirty="0">
                <a:solidFill>
                  <a:srgbClr val="1F6F4F"/>
                </a:solidFill>
                <a:latin typeface="Cambria" pitchFamily="34" charset="0"/>
                <a:ea typeface="Cambria" pitchFamily="34" charset="-122"/>
                <a:cs typeface="Cambria" pitchFamily="34" charset="-120"/>
              </a:rPr>
              <a:t>Output</a:t>
            </a:r>
            <a:endParaRPr lang="en-US" sz="2000" dirty="0"/>
          </a:p>
        </p:txBody>
      </p:sp>
      <p:sp>
        <p:nvSpPr>
          <p:cNvPr id="17" name="Text 15"/>
          <p:cNvSpPr txBox="1"/>
          <p:nvPr/>
        </p:nvSpPr>
        <p:spPr>
          <a:xfrm>
            <a:off x="6400800" y="3749040"/>
            <a:ext cx="2103120" cy="685800"/>
          </a:xfrm>
          <a:prstGeom prst="rect">
            <a:avLst/>
          </a:prstGeom>
          <a:noFill/>
          <a:ln/>
        </p:spPr>
        <p:txBody>
          <a:bodyPr wrap="square" lIns="0" tIns="0" rIns="0" bIns="0" rtlCol="0" anchor="t"/>
          <a:lstStyle/>
          <a:p>
            <a:pPr marL="0" indent="0">
              <a:buNone/>
            </a:pPr>
            <a:r>
              <a:rPr lang="en-US" sz="1500" dirty="0">
                <a:solidFill>
                  <a:srgbClr val="1D2B25"/>
                </a:solidFill>
                <a:latin typeface="Calibri" pitchFamily="34" charset="0"/>
                <a:ea typeface="Calibri" pitchFamily="34" charset="-122"/>
                <a:cs typeface="Calibri" pitchFamily="34" charset="-120"/>
              </a:rPr>
              <a:t>Grades and shortage list printed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640080" cy="640080"/>
          </a:xfrm>
          <a:prstGeom prst="ellipse">
            <a:avLst/>
          </a:prstGeom>
          <a:solidFill>
            <a:srgbClr val="1F6F4F"/>
          </a:solidFill>
          <a:ln w="12700">
            <a:solidFill>
              <a:srgbClr val="1F6F4F"/>
            </a:solidFill>
            <a:prstDash val="solid"/>
          </a:ln>
        </p:spPr>
      </p:sp>
      <p:sp>
        <p:nvSpPr>
          <p:cNvPr id="3" name="Text 1"/>
          <p:cNvSpPr txBox="1"/>
          <p:nvPr/>
        </p:nvSpPr>
        <p:spPr>
          <a:xfrm>
            <a:off x="457200" y="4114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4" name="Text 2"/>
          <p:cNvSpPr txBox="1"/>
          <p:nvPr/>
        </p:nvSpPr>
        <p:spPr>
          <a:xfrm>
            <a:off x="1325880" y="365760"/>
            <a:ext cx="5486400" cy="274320"/>
          </a:xfrm>
          <a:prstGeom prst="rect">
            <a:avLst/>
          </a:prstGeom>
          <a:noFill/>
          <a:ln/>
        </p:spPr>
        <p:txBody>
          <a:bodyPr wrap="square" lIns="0" tIns="0" rIns="0" bIns="0" rtlCol="0" anchor="ctr"/>
          <a:lstStyle/>
          <a:p>
            <a:pPr marL="0" indent="0">
              <a:buNone/>
            </a:pPr>
            <a:r>
              <a:rPr lang="en-US" sz="1200" b="1" kern="0" spc="300" dirty="0">
                <a:solidFill>
                  <a:srgbClr val="8A5A00"/>
                </a:solidFill>
                <a:latin typeface="Calibri" pitchFamily="34" charset="0"/>
                <a:ea typeface="Calibri" pitchFamily="34" charset="-122"/>
                <a:cs typeface="Calibri" pitchFamily="34" charset="-120"/>
              </a:rPr>
              <a:t>ADVANTAGES</a:t>
            </a:r>
            <a:endParaRPr lang="en-US" sz="1200" dirty="0"/>
          </a:p>
        </p:txBody>
      </p:sp>
      <p:sp>
        <p:nvSpPr>
          <p:cNvPr id="5" name="Text 3"/>
          <p:cNvSpPr txBox="1"/>
          <p:nvPr/>
        </p:nvSpPr>
        <p:spPr>
          <a:xfrm>
            <a:off x="1325880" y="621792"/>
            <a:ext cx="7315200" cy="502920"/>
          </a:xfrm>
          <a:prstGeom prst="rect">
            <a:avLst/>
          </a:prstGeom>
          <a:noFill/>
          <a:ln/>
        </p:spPr>
        <p:txBody>
          <a:bodyPr wrap="square" lIns="0" tIns="0" rIns="0" bIns="0" rtlCol="0" anchor="ctr"/>
          <a:lstStyle/>
          <a:p>
            <a:pPr marL="0" indent="0">
              <a:buNone/>
            </a:pPr>
            <a:r>
              <a:rPr lang="en-US" sz="3000" b="1" dirty="0">
                <a:solidFill>
                  <a:srgbClr val="14332B"/>
                </a:solidFill>
                <a:latin typeface="Cambria" pitchFamily="34" charset="0"/>
                <a:ea typeface="Cambria" pitchFamily="34" charset="-122"/>
                <a:cs typeface="Cambria" pitchFamily="34" charset="-120"/>
              </a:rPr>
              <a:t>Advantages</a:t>
            </a:r>
            <a:endParaRPr lang="en-US" sz="3000" dirty="0"/>
          </a:p>
        </p:txBody>
      </p:sp>
      <p:sp>
        <p:nvSpPr>
          <p:cNvPr id="6" name="Shape 4"/>
          <p:cNvSpPr/>
          <p:nvPr/>
        </p:nvSpPr>
        <p:spPr>
          <a:xfrm>
            <a:off x="457200" y="1463040"/>
            <a:ext cx="3840480" cy="3200400"/>
          </a:xfrm>
          <a:prstGeom prst="roundRect">
            <a:avLst>
              <a:gd name="adj" fmla="val 3429"/>
            </a:avLst>
          </a:prstGeom>
          <a:solidFill>
            <a:srgbClr val="E6F2EB"/>
          </a:solidFill>
          <a:ln w="12700">
            <a:solidFill>
              <a:srgbClr val="E6F2EB"/>
            </a:solidFill>
            <a:prstDash val="solid"/>
          </a:ln>
        </p:spPr>
      </p:sp>
      <p:sp>
        <p:nvSpPr>
          <p:cNvPr id="7" name="Text 5"/>
          <p:cNvSpPr txBox="1"/>
          <p:nvPr/>
        </p:nvSpPr>
        <p:spPr>
          <a:xfrm>
            <a:off x="685800" y="1645920"/>
            <a:ext cx="3383280" cy="411480"/>
          </a:xfrm>
          <a:prstGeom prst="rect">
            <a:avLst/>
          </a:prstGeom>
          <a:noFill/>
          <a:ln/>
        </p:spPr>
        <p:txBody>
          <a:bodyPr wrap="square" lIns="0" tIns="0" rIns="0" bIns="0" rtlCol="0" anchor="ctr"/>
          <a:lstStyle/>
          <a:p>
            <a:pPr marL="0" indent="0">
              <a:buNone/>
            </a:pPr>
            <a:r>
              <a:rPr lang="en-US" sz="2200" b="1" dirty="0">
                <a:solidFill>
                  <a:srgbClr val="1F6F4F"/>
                </a:solidFill>
                <a:latin typeface="Cambria" pitchFamily="34" charset="0"/>
                <a:ea typeface="Cambria" pitchFamily="34" charset="-122"/>
                <a:cs typeface="Cambria" pitchFamily="34" charset="-120"/>
              </a:rPr>
              <a:t>Advantages</a:t>
            </a:r>
            <a:endParaRPr lang="en-US" sz="2200" dirty="0"/>
          </a:p>
        </p:txBody>
      </p:sp>
      <p:sp>
        <p:nvSpPr>
          <p:cNvPr id="8" name="Text 6"/>
          <p:cNvSpPr txBox="1"/>
          <p:nvPr/>
        </p:nvSpPr>
        <p:spPr>
          <a:xfrm>
            <a:off x="685800" y="2194560"/>
            <a:ext cx="3383280" cy="23317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1D2B25"/>
                </a:solidFill>
                <a:latin typeface="Calibri" pitchFamily="34" charset="0"/>
                <a:ea typeface="Calibri" pitchFamily="34" charset="-122"/>
                <a:cs typeface="Calibri" pitchFamily="34" charset="-120"/>
              </a:rPr>
              <a:t>Automates grade and percentage calculation</a:t>
            </a:r>
            <a:endParaRPr lang="en-US" sz="1500" dirty="0"/>
          </a:p>
          <a:p>
            <a:pPr marL="342900" indent="-342900">
              <a:spcAft>
                <a:spcPts val="1200"/>
              </a:spcAft>
              <a:buSzPct val="100000"/>
              <a:buChar char="•"/>
            </a:pPr>
            <a:r>
              <a:rPr lang="en-US" sz="1500" dirty="0">
                <a:solidFill>
                  <a:srgbClr val="1D2B25"/>
                </a:solidFill>
                <a:latin typeface="Calibri" pitchFamily="34" charset="0"/>
                <a:ea typeface="Calibri" pitchFamily="34" charset="-122"/>
                <a:cs typeface="Calibri" pitchFamily="34" charset="-120"/>
              </a:rPr>
              <a:t>Flags low attendance instantly</a:t>
            </a:r>
            <a:endParaRPr lang="en-US" sz="1500" dirty="0"/>
          </a:p>
          <a:p>
            <a:pPr marL="342900" indent="-342900">
              <a:spcAft>
                <a:spcPts val="1200"/>
              </a:spcAft>
              <a:buSzPct val="100000"/>
              <a:buChar char="•"/>
            </a:pPr>
            <a:r>
              <a:rPr lang="en-US" sz="1500" dirty="0">
                <a:solidFill>
                  <a:srgbClr val="1D2B25"/>
                </a:solidFill>
                <a:latin typeface="Calibri" pitchFamily="34" charset="0"/>
                <a:ea typeface="Calibri" pitchFamily="34" charset="-122"/>
                <a:cs typeface="Calibri" pitchFamily="34" charset="-120"/>
              </a:rPr>
              <a:t>Results shown as a clear formatted report</a:t>
            </a:r>
            <a:endParaRPr lang="en-US" sz="1500" dirty="0"/>
          </a:p>
          <a:p>
            <a:pPr marL="342900" indent="-342900">
              <a:spcAft>
                <a:spcPts val="1200"/>
              </a:spcAft>
              <a:buSzPct val="100000"/>
              <a:buChar char="•"/>
            </a:pPr>
            <a:r>
              <a:rPr lang="en-US" sz="1500" dirty="0">
                <a:solidFill>
                  <a:srgbClr val="1D2B25"/>
                </a:solidFill>
                <a:latin typeface="Calibri" pitchFamily="34" charset="0"/>
                <a:ea typeface="Calibri" pitchFamily="34" charset="-122"/>
                <a:cs typeface="Calibri" pitchFamily="34" charset="-120"/>
              </a:rPr>
              <a:t>Methods keep the code modular and reusable</a:t>
            </a:r>
            <a:endParaRPr lang="en-US" sz="1500" dirty="0"/>
          </a:p>
        </p:txBody>
      </p:sp>
      <p:sp>
        <p:nvSpPr>
          <p:cNvPr id="13" name="Shape 4">
            <a:extLst>
              <a:ext uri="{FF2B5EF4-FFF2-40B4-BE49-F238E27FC236}">
                <a16:creationId xmlns:a16="http://schemas.microsoft.com/office/drawing/2014/main" id="{7CC78397-212E-221E-B94E-CFA8777A85D6}"/>
              </a:ext>
            </a:extLst>
          </p:cNvPr>
          <p:cNvSpPr/>
          <p:nvPr/>
        </p:nvSpPr>
        <p:spPr>
          <a:xfrm>
            <a:off x="4526280" y="1463040"/>
            <a:ext cx="3840480" cy="3200400"/>
          </a:xfrm>
          <a:prstGeom prst="roundRect">
            <a:avLst>
              <a:gd name="adj" fmla="val 3429"/>
            </a:avLst>
          </a:prstGeom>
          <a:solidFill>
            <a:srgbClr val="E6F2EB"/>
          </a:solidFill>
          <a:ln w="12700">
            <a:solidFill>
              <a:srgbClr val="E6F2EB"/>
            </a:solidFill>
            <a:prstDash val="solid"/>
          </a:ln>
        </p:spPr>
      </p:sp>
      <p:sp>
        <p:nvSpPr>
          <p:cNvPr id="15" name="TextBox 21">
            <a:extLst>
              <a:ext uri="{FF2B5EF4-FFF2-40B4-BE49-F238E27FC236}">
                <a16:creationId xmlns:a16="http://schemas.microsoft.com/office/drawing/2014/main" id="{ABBA619F-D08A-398A-50F4-05B6EE39C47B}"/>
              </a:ext>
            </a:extLst>
          </p:cNvPr>
          <p:cNvSpPr txBox="1"/>
          <p:nvPr/>
        </p:nvSpPr>
        <p:spPr>
          <a:xfrm>
            <a:off x="4726745" y="1602403"/>
            <a:ext cx="3439549" cy="2923877"/>
          </a:xfrm>
          <a:prstGeom prst="rect">
            <a:avLst/>
          </a:prstGeom>
          <a:noFill/>
        </p:spPr>
        <p:txBody>
          <a:bodyPr wrap="square">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1200"/>
              </a:spcAft>
              <a:buSzPct val="100000"/>
              <a:buChar char="•"/>
            </a:pPr>
            <a:r>
              <a:rPr lang="en-IN" sz="1800" dirty="0"/>
              <a:t>Determines attendance eligibility. </a:t>
            </a:r>
          </a:p>
          <a:p>
            <a:pPr marL="342900" indent="-342900">
              <a:spcAft>
                <a:spcPts val="1200"/>
              </a:spcAft>
              <a:buSzPct val="100000"/>
              <a:buChar char="•"/>
            </a:pPr>
            <a:r>
              <a:rPr lang="en-IN" sz="1800" dirty="0"/>
              <a:t>Calculates overall academic performance. </a:t>
            </a:r>
          </a:p>
          <a:p>
            <a:pPr marL="342900" indent="-342900">
              <a:spcAft>
                <a:spcPts val="1200"/>
              </a:spcAft>
              <a:buSzPct val="100000"/>
              <a:buChar char="•"/>
            </a:pPr>
            <a:r>
              <a:rPr lang="en-IN" sz="1800" dirty="0"/>
              <a:t>Allows searching for subjects.</a:t>
            </a:r>
          </a:p>
          <a:p>
            <a:pPr marL="342900" indent="-342900">
              <a:spcAft>
                <a:spcPts val="1200"/>
              </a:spcAft>
              <a:buSzPct val="100000"/>
              <a:buChar char="•"/>
            </a:pPr>
            <a:r>
              <a:rPr lang="en-IN" sz="1800" dirty="0"/>
              <a:t> Reduces manual calculations.</a:t>
            </a:r>
          </a:p>
          <a:p>
            <a:pPr marL="342900" indent="-342900">
              <a:spcAft>
                <a:spcPts val="1200"/>
              </a:spcAft>
              <a:buSzPct val="100000"/>
              <a:buChar char="•"/>
            </a:pPr>
            <a:r>
              <a:rPr lang="en-IN" sz="1800" dirty="0"/>
              <a:t> Uses modular programming through methods. </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640080" cy="640080"/>
          </a:xfrm>
          <a:prstGeom prst="ellipse">
            <a:avLst/>
          </a:prstGeom>
          <a:solidFill>
            <a:srgbClr val="1F6F4F"/>
          </a:solidFill>
          <a:ln w="12700">
            <a:solidFill>
              <a:srgbClr val="1F6F4F"/>
            </a:solidFill>
            <a:prstDash val="solid"/>
          </a:ln>
        </p:spPr>
      </p:sp>
      <p:sp>
        <p:nvSpPr>
          <p:cNvPr id="3" name="Text 1"/>
          <p:cNvSpPr txBox="1"/>
          <p:nvPr/>
        </p:nvSpPr>
        <p:spPr>
          <a:xfrm>
            <a:off x="457200" y="4114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4" name="Text 2"/>
          <p:cNvSpPr txBox="1"/>
          <p:nvPr/>
        </p:nvSpPr>
        <p:spPr>
          <a:xfrm>
            <a:off x="1325880" y="365760"/>
            <a:ext cx="5486400" cy="274320"/>
          </a:xfrm>
          <a:prstGeom prst="rect">
            <a:avLst/>
          </a:prstGeom>
          <a:noFill/>
          <a:ln/>
        </p:spPr>
        <p:txBody>
          <a:bodyPr wrap="square" lIns="0" tIns="0" rIns="0" bIns="0" rtlCol="0" anchor="ctr"/>
          <a:lstStyle/>
          <a:p>
            <a:pPr marL="0" indent="0">
              <a:buNone/>
            </a:pPr>
            <a:r>
              <a:rPr lang="en-US" sz="1200" b="1" kern="0" spc="300" dirty="0">
                <a:solidFill>
                  <a:srgbClr val="8A5A00"/>
                </a:solidFill>
                <a:latin typeface="Calibri" pitchFamily="34" charset="0"/>
                <a:ea typeface="Calibri" pitchFamily="34" charset="-122"/>
                <a:cs typeface="Calibri" pitchFamily="34" charset="-120"/>
              </a:rPr>
              <a:t>IMPLEMENTATION  |  MODULE 1</a:t>
            </a:r>
            <a:endParaRPr lang="en-US" sz="1200" dirty="0"/>
          </a:p>
        </p:txBody>
      </p:sp>
      <p:sp>
        <p:nvSpPr>
          <p:cNvPr id="5" name="Text 3"/>
          <p:cNvSpPr txBox="1"/>
          <p:nvPr/>
        </p:nvSpPr>
        <p:spPr>
          <a:xfrm>
            <a:off x="1325880" y="621792"/>
            <a:ext cx="7315200" cy="502920"/>
          </a:xfrm>
          <a:prstGeom prst="rect">
            <a:avLst/>
          </a:prstGeom>
          <a:noFill/>
          <a:ln/>
        </p:spPr>
        <p:txBody>
          <a:bodyPr wrap="square" lIns="0" tIns="0" rIns="0" bIns="0" rtlCol="0" anchor="ctr"/>
          <a:lstStyle/>
          <a:p>
            <a:pPr marL="0" indent="0">
              <a:buNone/>
            </a:pPr>
            <a:r>
              <a:rPr lang="en-US" sz="3000" b="1" dirty="0">
                <a:solidFill>
                  <a:srgbClr val="14332B"/>
                </a:solidFill>
                <a:latin typeface="Cambria" pitchFamily="34" charset="0"/>
                <a:ea typeface="Cambria" pitchFamily="34" charset="-122"/>
                <a:cs typeface="Cambria" pitchFamily="34" charset="-120"/>
              </a:rPr>
              <a:t>From Problem to Program</a:t>
            </a:r>
            <a:endParaRPr lang="en-US" sz="3000" dirty="0"/>
          </a:p>
        </p:txBody>
      </p:sp>
      <p:sp>
        <p:nvSpPr>
          <p:cNvPr id="6" name="Text 4"/>
          <p:cNvSpPr txBox="1"/>
          <p:nvPr/>
        </p:nvSpPr>
        <p:spPr>
          <a:xfrm>
            <a:off x="457200" y="1463040"/>
            <a:ext cx="3840480" cy="32004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Problem: record marks and attendance, then report a grade and eligibility</a:t>
            </a:r>
            <a:endParaRPr lang="en-US" sz="1600" dirty="0"/>
          </a:p>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Plan first with an algorithm and a flowchart</a:t>
            </a:r>
            <a:endParaRPr lang="en-US" sz="1600" dirty="0"/>
          </a:p>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Primitive types: int marks, double average, char grade, boolean present</a:t>
            </a:r>
            <a:endParaRPr lang="en-US" sz="1600" dirty="0"/>
          </a:p>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Constant MIN_ATT; Scanner reads input; printf formats the report</a:t>
            </a:r>
            <a:endParaRPr lang="en-US" sz="1600" dirty="0"/>
          </a:p>
        </p:txBody>
      </p:sp>
      <p:sp>
        <p:nvSpPr>
          <p:cNvPr id="7" name="Shape 5"/>
          <p:cNvSpPr/>
          <p:nvPr/>
        </p:nvSpPr>
        <p:spPr>
          <a:xfrm>
            <a:off x="4846320" y="1463040"/>
            <a:ext cx="3840480" cy="3200400"/>
          </a:xfrm>
          <a:prstGeom prst="roundRect">
            <a:avLst>
              <a:gd name="adj" fmla="val 3429"/>
            </a:avLst>
          </a:prstGeom>
          <a:solidFill>
            <a:srgbClr val="14332B"/>
          </a:solidFill>
          <a:ln w="12700">
            <a:solidFill>
              <a:srgbClr val="14332B"/>
            </a:solidFill>
            <a:prstDash val="solid"/>
          </a:ln>
        </p:spPr>
      </p:sp>
      <p:sp>
        <p:nvSpPr>
          <p:cNvPr id="8" name="Text 6"/>
          <p:cNvSpPr txBox="1"/>
          <p:nvPr/>
        </p:nvSpPr>
        <p:spPr>
          <a:xfrm>
            <a:off x="4983480" y="1645920"/>
            <a:ext cx="3566160" cy="2834640"/>
          </a:xfrm>
          <a:prstGeom prst="rect">
            <a:avLst/>
          </a:prstGeom>
          <a:noFill/>
          <a:ln/>
        </p:spPr>
        <p:txBody>
          <a:bodyPr wrap="square" lIns="0" tIns="0" rIns="0" bIns="0" rtlCol="0" anchor="t"/>
          <a:lstStyle/>
          <a:p>
            <a:pPr marL="0" indent="0">
              <a:buNone/>
            </a:pPr>
            <a:r>
              <a:rPr lang="en-US" sz="1200" dirty="0">
                <a:solidFill>
                  <a:srgbClr val="E8F0EA"/>
                </a:solidFill>
                <a:latin typeface="Courier New" pitchFamily="34" charset="0"/>
                <a:ea typeface="Courier New" pitchFamily="34" charset="-122"/>
                <a:cs typeface="Courier New" pitchFamily="34" charset="-120"/>
              </a:rPr>
              <a:t>static final int MIN_ATT = 75;</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Scanner sc = new Scanner(System.in);</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int n = sc.nextInt();</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double p = attended * 100.0 / total;</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System.out.printf("%.1f%%%n", 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640080" cy="640080"/>
          </a:xfrm>
          <a:prstGeom prst="ellipse">
            <a:avLst/>
          </a:prstGeom>
          <a:solidFill>
            <a:srgbClr val="1F6F4F"/>
          </a:solidFill>
          <a:ln w="12700">
            <a:solidFill>
              <a:srgbClr val="1F6F4F"/>
            </a:solidFill>
            <a:prstDash val="solid"/>
          </a:ln>
        </p:spPr>
      </p:sp>
      <p:sp>
        <p:nvSpPr>
          <p:cNvPr id="3" name="Text 1"/>
          <p:cNvSpPr txBox="1"/>
          <p:nvPr/>
        </p:nvSpPr>
        <p:spPr>
          <a:xfrm>
            <a:off x="457200" y="4114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4" name="Text 2"/>
          <p:cNvSpPr txBox="1"/>
          <p:nvPr/>
        </p:nvSpPr>
        <p:spPr>
          <a:xfrm>
            <a:off x="1325880" y="365760"/>
            <a:ext cx="5486400" cy="274320"/>
          </a:xfrm>
          <a:prstGeom prst="rect">
            <a:avLst/>
          </a:prstGeom>
          <a:noFill/>
          <a:ln/>
        </p:spPr>
        <p:txBody>
          <a:bodyPr wrap="square" lIns="0" tIns="0" rIns="0" bIns="0" rtlCol="0" anchor="ctr"/>
          <a:lstStyle/>
          <a:p>
            <a:pPr marL="0" indent="0">
              <a:buNone/>
            </a:pPr>
            <a:r>
              <a:rPr lang="en-US" sz="1200" b="1" kern="0" spc="300" dirty="0">
                <a:solidFill>
                  <a:srgbClr val="8A5A00"/>
                </a:solidFill>
                <a:latin typeface="Calibri" pitchFamily="34" charset="0"/>
                <a:ea typeface="Calibri" pitchFamily="34" charset="-122"/>
                <a:cs typeface="Calibri" pitchFamily="34" charset="-120"/>
              </a:rPr>
              <a:t>IMPLEMENTATION  |  MODULE 2</a:t>
            </a:r>
            <a:endParaRPr lang="en-US" sz="1200" dirty="0"/>
          </a:p>
        </p:txBody>
      </p:sp>
      <p:sp>
        <p:nvSpPr>
          <p:cNvPr id="5" name="Text 3"/>
          <p:cNvSpPr txBox="1"/>
          <p:nvPr/>
        </p:nvSpPr>
        <p:spPr>
          <a:xfrm>
            <a:off x="1325880" y="621792"/>
            <a:ext cx="7315200" cy="502920"/>
          </a:xfrm>
          <a:prstGeom prst="rect">
            <a:avLst/>
          </a:prstGeom>
          <a:noFill/>
          <a:ln/>
        </p:spPr>
        <p:txBody>
          <a:bodyPr wrap="square" lIns="0" tIns="0" rIns="0" bIns="0" rtlCol="0" anchor="ctr"/>
          <a:lstStyle/>
          <a:p>
            <a:pPr marL="0" indent="0">
              <a:buNone/>
            </a:pPr>
            <a:r>
              <a:rPr lang="en-US" sz="3000" b="1" dirty="0">
                <a:solidFill>
                  <a:srgbClr val="14332B"/>
                </a:solidFill>
                <a:latin typeface="Cambria" pitchFamily="34" charset="0"/>
                <a:ea typeface="Cambria" pitchFamily="34" charset="-122"/>
                <a:cs typeface="Cambria" pitchFamily="34" charset="-120"/>
              </a:rPr>
              <a:t>Control Flow</a:t>
            </a:r>
            <a:endParaRPr lang="en-US" sz="3000" dirty="0"/>
          </a:p>
        </p:txBody>
      </p:sp>
      <p:sp>
        <p:nvSpPr>
          <p:cNvPr id="6" name="Text 4"/>
          <p:cNvSpPr txBox="1"/>
          <p:nvPr/>
        </p:nvSpPr>
        <p:spPr>
          <a:xfrm>
            <a:off x="4846320" y="1463040"/>
            <a:ext cx="3840480" cy="32004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if-else-if ladder in grade() converts the average to A-F</a:t>
            </a:r>
            <a:endParaRPr lang="en-US" sz="1600" dirty="0"/>
          </a:p>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switch with default in remark() gives the remark</a:t>
            </a:r>
            <a:endParaRPr lang="en-US" sz="1600" dirty="0"/>
          </a:p>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for, while and do-while loops read and process every student</a:t>
            </a:r>
            <a:endParaRPr lang="en-US" sz="1600" dirty="0"/>
          </a:p>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break and continue in the roll search; nested-if decides eligibility</a:t>
            </a:r>
            <a:endParaRPr lang="en-US" sz="1600" dirty="0"/>
          </a:p>
        </p:txBody>
      </p:sp>
      <p:sp>
        <p:nvSpPr>
          <p:cNvPr id="7" name="Shape 5"/>
          <p:cNvSpPr/>
          <p:nvPr/>
        </p:nvSpPr>
        <p:spPr>
          <a:xfrm>
            <a:off x="457200" y="1463040"/>
            <a:ext cx="3840480" cy="3200400"/>
          </a:xfrm>
          <a:prstGeom prst="roundRect">
            <a:avLst>
              <a:gd name="adj" fmla="val 3429"/>
            </a:avLst>
          </a:prstGeom>
          <a:solidFill>
            <a:srgbClr val="14332B"/>
          </a:solidFill>
          <a:ln w="12700">
            <a:solidFill>
              <a:srgbClr val="14332B"/>
            </a:solidFill>
            <a:prstDash val="solid"/>
          </a:ln>
        </p:spPr>
      </p:sp>
      <p:sp>
        <p:nvSpPr>
          <p:cNvPr id="8" name="Text 6"/>
          <p:cNvSpPr txBox="1"/>
          <p:nvPr/>
        </p:nvSpPr>
        <p:spPr>
          <a:xfrm>
            <a:off x="594360" y="1645920"/>
            <a:ext cx="3566160" cy="2834640"/>
          </a:xfrm>
          <a:prstGeom prst="rect">
            <a:avLst/>
          </a:prstGeom>
          <a:noFill/>
          <a:ln/>
        </p:spPr>
        <p:txBody>
          <a:bodyPr wrap="square" lIns="0" tIns="0" rIns="0" bIns="0" rtlCol="0" anchor="t"/>
          <a:lstStyle/>
          <a:p>
            <a:pPr marL="0" indent="0">
              <a:buNone/>
            </a:pPr>
            <a:r>
              <a:rPr lang="en-US" sz="1200" dirty="0">
                <a:solidFill>
                  <a:srgbClr val="E8F0EA"/>
                </a:solidFill>
                <a:latin typeface="Courier New" pitchFamily="34" charset="0"/>
                <a:ea typeface="Courier New" pitchFamily="34" charset="-122"/>
                <a:cs typeface="Courier New" pitchFamily="34" charset="-120"/>
              </a:rPr>
              <a:t>if (a &gt;= 90) return 'A';</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else if (a &gt;= 75) return 'B';</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else if (a &gt;= 60) return 'C';</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else if (a &gt;= 40) return 'D';</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else return 'F';</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switch (g) {</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  case 'A': return "Excellent";</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  default:  return "Fail";</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640080" cy="640080"/>
          </a:xfrm>
          <a:prstGeom prst="ellipse">
            <a:avLst/>
          </a:prstGeom>
          <a:solidFill>
            <a:srgbClr val="1F6F4F"/>
          </a:solidFill>
          <a:ln w="12700">
            <a:solidFill>
              <a:srgbClr val="1F6F4F"/>
            </a:solidFill>
            <a:prstDash val="solid"/>
          </a:ln>
        </p:spPr>
      </p:sp>
      <p:sp>
        <p:nvSpPr>
          <p:cNvPr id="3" name="Text 1"/>
          <p:cNvSpPr txBox="1"/>
          <p:nvPr/>
        </p:nvSpPr>
        <p:spPr>
          <a:xfrm>
            <a:off x="457200" y="4114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4" name="Text 2"/>
          <p:cNvSpPr txBox="1"/>
          <p:nvPr/>
        </p:nvSpPr>
        <p:spPr>
          <a:xfrm>
            <a:off x="1325880" y="365760"/>
            <a:ext cx="5486400" cy="274320"/>
          </a:xfrm>
          <a:prstGeom prst="rect">
            <a:avLst/>
          </a:prstGeom>
          <a:noFill/>
          <a:ln/>
        </p:spPr>
        <p:txBody>
          <a:bodyPr wrap="square" lIns="0" tIns="0" rIns="0" bIns="0" rtlCol="0" anchor="ctr"/>
          <a:lstStyle/>
          <a:p>
            <a:pPr marL="0" indent="0">
              <a:buNone/>
            </a:pPr>
            <a:r>
              <a:rPr lang="en-US" sz="1200" b="1" kern="0" spc="300" dirty="0">
                <a:solidFill>
                  <a:srgbClr val="8A5A00"/>
                </a:solidFill>
                <a:latin typeface="Calibri" pitchFamily="34" charset="0"/>
                <a:ea typeface="Calibri" pitchFamily="34" charset="-122"/>
                <a:cs typeface="Calibri" pitchFamily="34" charset="-120"/>
              </a:rPr>
              <a:t>IMPLEMENTATION  |  MODULE 3</a:t>
            </a:r>
            <a:endParaRPr lang="en-US" sz="1200" dirty="0"/>
          </a:p>
        </p:txBody>
      </p:sp>
      <p:sp>
        <p:nvSpPr>
          <p:cNvPr id="5" name="Text 3"/>
          <p:cNvSpPr txBox="1"/>
          <p:nvPr/>
        </p:nvSpPr>
        <p:spPr>
          <a:xfrm>
            <a:off x="1325880" y="621792"/>
            <a:ext cx="7315200" cy="502920"/>
          </a:xfrm>
          <a:prstGeom prst="rect">
            <a:avLst/>
          </a:prstGeom>
          <a:noFill/>
          <a:ln/>
        </p:spPr>
        <p:txBody>
          <a:bodyPr wrap="square" lIns="0" tIns="0" rIns="0" bIns="0" rtlCol="0" anchor="ctr"/>
          <a:lstStyle/>
          <a:p>
            <a:pPr marL="0" indent="0">
              <a:buNone/>
            </a:pPr>
            <a:r>
              <a:rPr lang="en-US" sz="3000" b="1" dirty="0">
                <a:solidFill>
                  <a:srgbClr val="14332B"/>
                </a:solidFill>
                <a:latin typeface="Cambria" pitchFamily="34" charset="0"/>
                <a:ea typeface="Cambria" pitchFamily="34" charset="-122"/>
                <a:cs typeface="Cambria" pitchFamily="34" charset="-120"/>
              </a:rPr>
              <a:t>Methods, Recursion &amp; Arrays</a:t>
            </a:r>
            <a:endParaRPr lang="en-US" sz="3000" dirty="0"/>
          </a:p>
        </p:txBody>
      </p:sp>
      <p:sp>
        <p:nvSpPr>
          <p:cNvPr id="6" name="Text 4"/>
          <p:cNvSpPr txBox="1"/>
          <p:nvPr/>
        </p:nvSpPr>
        <p:spPr>
          <a:xfrm>
            <a:off x="457200" y="1463040"/>
            <a:ext cx="3840480" cy="32004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Methods with return values: sum(), avg(), pct(), grade(), remark()</a:t>
            </a:r>
            <a:endParaRPr lang="en-US" sz="1600" dirty="0"/>
          </a:p>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Overloading: pct(int, int) and pct(boolean[])</a:t>
            </a:r>
            <a:endParaRPr lang="en-US" sz="1600" dirty="0"/>
          </a:p>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Recursion: sum() has a base case and a recursive case</a:t>
            </a:r>
            <a:endParaRPr lang="en-US" sz="1600" dirty="0"/>
          </a:p>
          <a:p>
            <a:pPr marL="342900" indent="-342900">
              <a:spcAft>
                <a:spcPts val="1200"/>
              </a:spcAft>
              <a:buSzPct val="100000"/>
              <a:buChar char="•"/>
            </a:pPr>
            <a:r>
              <a:rPr lang="en-US" sz="1600" dirty="0">
                <a:solidFill>
                  <a:srgbClr val="1D2B25"/>
                </a:solidFill>
                <a:latin typeface="Calibri" pitchFamily="34" charset="0"/>
                <a:ea typeface="Calibri" pitchFamily="34" charset="-122"/>
                <a:cs typeface="Calibri" pitchFamily="34" charset="-120"/>
              </a:rPr>
              <a:t>Arrays: roll[], marks[][], present[][]; traversal, search, counting</a:t>
            </a:r>
            <a:endParaRPr lang="en-US" sz="1600" dirty="0"/>
          </a:p>
        </p:txBody>
      </p:sp>
      <p:sp>
        <p:nvSpPr>
          <p:cNvPr id="7" name="Shape 5"/>
          <p:cNvSpPr/>
          <p:nvPr/>
        </p:nvSpPr>
        <p:spPr>
          <a:xfrm>
            <a:off x="4846320" y="1463040"/>
            <a:ext cx="3840480" cy="3200400"/>
          </a:xfrm>
          <a:prstGeom prst="roundRect">
            <a:avLst>
              <a:gd name="adj" fmla="val 3429"/>
            </a:avLst>
          </a:prstGeom>
          <a:solidFill>
            <a:srgbClr val="14332B"/>
          </a:solidFill>
          <a:ln w="12700">
            <a:solidFill>
              <a:srgbClr val="14332B"/>
            </a:solidFill>
            <a:prstDash val="solid"/>
          </a:ln>
        </p:spPr>
      </p:sp>
      <p:sp>
        <p:nvSpPr>
          <p:cNvPr id="8" name="Text 6"/>
          <p:cNvSpPr txBox="1"/>
          <p:nvPr/>
        </p:nvSpPr>
        <p:spPr>
          <a:xfrm>
            <a:off x="4983480" y="1645920"/>
            <a:ext cx="3566160" cy="2834640"/>
          </a:xfrm>
          <a:prstGeom prst="rect">
            <a:avLst/>
          </a:prstGeom>
          <a:noFill/>
          <a:ln/>
        </p:spPr>
        <p:txBody>
          <a:bodyPr wrap="square" lIns="0" tIns="0" rIns="0" bIns="0" rtlCol="0" anchor="t"/>
          <a:lstStyle/>
          <a:p>
            <a:pPr marL="0" indent="0">
              <a:buNone/>
            </a:pPr>
            <a:r>
              <a:rPr lang="en-US" sz="1200" dirty="0">
                <a:solidFill>
                  <a:srgbClr val="E8F0EA"/>
                </a:solidFill>
                <a:latin typeface="Courier New" pitchFamily="34" charset="0"/>
                <a:ea typeface="Courier New" pitchFamily="34" charset="-122"/>
                <a:cs typeface="Courier New" pitchFamily="34" charset="-120"/>
              </a:rPr>
              <a:t>static int sum(int[] m, int n) {</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  return n == 0 ? 0</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    : m[n - 1] + sum(m, n - 1);</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
            </a:r>
            <a:endParaRPr lang="en-US" sz="1200" dirty="0"/>
          </a:p>
          <a:p>
            <a:pPr marL="0" indent="0">
              <a:buNone/>
            </a:pPr>
            <a:r>
              <a:rPr lang="en-US" sz="1200" dirty="0">
                <a:solidFill>
                  <a:srgbClr val="E8F0EA"/>
                </a:solidFill>
                <a:latin typeface="Courier New" pitchFamily="34" charset="0"/>
                <a:ea typeface="Courier New" pitchFamily="34" charset="-122"/>
                <a:cs typeface="Courier New" pitchFamily="34" charset="-120"/>
              </a:rPr>
              <a:t>int[][] marks = new int[n][SUBJECTS];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9C823B-AF8A-EB44-7F08-6D9D3BCDC556}"/>
              </a:ext>
            </a:extLst>
          </p:cNvPr>
          <p:cNvPicPr>
            <a:picLocks noChangeAspect="1"/>
          </p:cNvPicPr>
          <p:nvPr/>
        </p:nvPicPr>
        <p:blipFill>
          <a:blip r:embed="rId2"/>
          <a:stretch>
            <a:fillRect/>
          </a:stretch>
        </p:blipFill>
        <p:spPr>
          <a:xfrm>
            <a:off x="777240" y="868680"/>
            <a:ext cx="3533804" cy="4114800"/>
          </a:xfrm>
          <a:prstGeom prst="rect">
            <a:avLst/>
          </a:prstGeom>
        </p:spPr>
      </p:pic>
      <p:pic>
        <p:nvPicPr>
          <p:cNvPr id="5" name="Picture 4">
            <a:extLst>
              <a:ext uri="{FF2B5EF4-FFF2-40B4-BE49-F238E27FC236}">
                <a16:creationId xmlns:a16="http://schemas.microsoft.com/office/drawing/2014/main" id="{6ACAF5CF-0CA8-C548-FFF7-58CB3E51858C}"/>
              </a:ext>
            </a:extLst>
          </p:cNvPr>
          <p:cNvPicPr>
            <a:picLocks noChangeAspect="1"/>
          </p:cNvPicPr>
          <p:nvPr/>
        </p:nvPicPr>
        <p:blipFill>
          <a:blip r:embed="rId3"/>
          <a:stretch>
            <a:fillRect/>
          </a:stretch>
        </p:blipFill>
        <p:spPr>
          <a:xfrm>
            <a:off x="4585364" y="868680"/>
            <a:ext cx="3762886" cy="4114800"/>
          </a:xfrm>
          <a:prstGeom prst="rect">
            <a:avLst/>
          </a:prstGeom>
        </p:spPr>
      </p:pic>
      <p:sp>
        <p:nvSpPr>
          <p:cNvPr id="60" name="Shape 0"/>
          <p:cNvSpPr/>
          <p:nvPr/>
        </p:nvSpPr>
        <p:spPr>
          <a:xfrm>
            <a:off x="365760" y="109728"/>
            <a:ext cx="548640" cy="548640"/>
          </a:xfrm>
          <a:prstGeom prst="ellipse">
            <a:avLst/>
          </a:prstGeom>
          <a:solidFill>
            <a:srgbClr val="1F6F4F"/>
          </a:solidFill>
          <a:ln w="12700">
            <a:solidFill>
              <a:srgbClr val="1F6F4F"/>
            </a:solidFill>
            <a:prstDash val="solid"/>
          </a:ln>
        </p:spPr>
      </p:sp>
      <p:sp>
        <p:nvSpPr>
          <p:cNvPr id="61" name="Text 1"/>
          <p:cNvSpPr txBox="1"/>
          <p:nvPr/>
        </p:nvSpPr>
        <p:spPr>
          <a:xfrm>
            <a:off x="365760" y="109728"/>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62" name="Text 2"/>
          <p:cNvSpPr txBox="1"/>
          <p:nvPr/>
        </p:nvSpPr>
        <p:spPr>
          <a:xfrm>
            <a:off x="1051560" y="91440"/>
            <a:ext cx="5486400" cy="228600"/>
          </a:xfrm>
          <a:prstGeom prst="rect">
            <a:avLst/>
          </a:prstGeom>
          <a:noFill/>
          <a:ln/>
        </p:spPr>
        <p:txBody>
          <a:bodyPr wrap="square" lIns="0" tIns="0" rIns="0" bIns="0" rtlCol="0" anchor="ctr"/>
          <a:lstStyle/>
          <a:p>
            <a:pPr marL="0" indent="0">
              <a:buNone/>
            </a:pPr>
            <a:r>
              <a:rPr lang="en-US" sz="1100" b="1" kern="0" spc="300" dirty="0">
                <a:solidFill>
                  <a:srgbClr val="8A5A00"/>
                </a:solidFill>
                <a:latin typeface="Calibri" pitchFamily="34" charset="0"/>
                <a:ea typeface="Calibri" pitchFamily="34" charset="-122"/>
                <a:cs typeface="Calibri" pitchFamily="34" charset="-120"/>
              </a:rPr>
              <a:t>IMPLEMENTATION  |  FULL CODE</a:t>
            </a:r>
            <a:endParaRPr lang="en-US" sz="1200" dirty="0"/>
          </a:p>
        </p:txBody>
      </p:sp>
      <p:sp>
        <p:nvSpPr>
          <p:cNvPr id="63" name="Text 3"/>
          <p:cNvSpPr txBox="1"/>
          <p:nvPr/>
        </p:nvSpPr>
        <p:spPr>
          <a:xfrm>
            <a:off x="1051560" y="301752"/>
            <a:ext cx="7315200" cy="411480"/>
          </a:xfrm>
          <a:prstGeom prst="rect">
            <a:avLst/>
          </a:prstGeom>
          <a:noFill/>
          <a:ln/>
        </p:spPr>
        <p:txBody>
          <a:bodyPr wrap="square" lIns="0" tIns="0" rIns="0" bIns="0" rtlCol="0" anchor="ctr"/>
          <a:lstStyle/>
          <a:p>
            <a:pPr marL="0" indent="0">
              <a:buNone/>
            </a:pPr>
            <a:r>
              <a:rPr lang="en-US" sz="2200" b="1" dirty="0">
                <a:solidFill>
                  <a:srgbClr val="14332B"/>
                </a:solidFill>
                <a:latin typeface="Cambria" pitchFamily="34" charset="0"/>
                <a:ea typeface="Cambria" pitchFamily="34" charset="-122"/>
                <a:cs typeface="Cambria" pitchFamily="34" charset="-120"/>
              </a:rPr>
              <a:t>Full Code (1 of 2)</a:t>
            </a:r>
            <a:endParaRPr lang="en-US" sz="3000" dirty="0"/>
          </a:p>
        </p:txBody>
      </p:sp>
    </p:spTree>
    <p:extLst>
      <p:ext uri="{BB962C8B-B14F-4D97-AF65-F5344CB8AC3E}">
        <p14:creationId xmlns:p14="http://schemas.microsoft.com/office/powerpoint/2010/main" val="1277776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8C4161-5127-BD91-F582-E9964D8BD04F}"/>
              </a:ext>
            </a:extLst>
          </p:cNvPr>
          <p:cNvPicPr>
            <a:picLocks noChangeAspect="1"/>
          </p:cNvPicPr>
          <p:nvPr/>
        </p:nvPicPr>
        <p:blipFill>
          <a:blip r:embed="rId2"/>
          <a:stretch>
            <a:fillRect/>
          </a:stretch>
        </p:blipFill>
        <p:spPr>
          <a:xfrm>
            <a:off x="457200" y="1280160"/>
            <a:ext cx="8229600" cy="3213716"/>
          </a:xfrm>
          <a:prstGeom prst="rect">
            <a:avLst/>
          </a:prstGeom>
        </p:spPr>
      </p:pic>
      <p:sp>
        <p:nvSpPr>
          <p:cNvPr id="60" name="Shape 0"/>
          <p:cNvSpPr/>
          <p:nvPr/>
        </p:nvSpPr>
        <p:spPr>
          <a:xfrm>
            <a:off x="365760" y="109728"/>
            <a:ext cx="548640" cy="548640"/>
          </a:xfrm>
          <a:prstGeom prst="ellipse">
            <a:avLst/>
          </a:prstGeom>
          <a:solidFill>
            <a:srgbClr val="1F6F4F"/>
          </a:solidFill>
          <a:ln w="12700">
            <a:solidFill>
              <a:srgbClr val="1F6F4F"/>
            </a:solidFill>
            <a:prstDash val="solid"/>
          </a:ln>
        </p:spPr>
      </p:sp>
      <p:sp>
        <p:nvSpPr>
          <p:cNvPr id="61" name="Text 1"/>
          <p:cNvSpPr txBox="1"/>
          <p:nvPr/>
        </p:nvSpPr>
        <p:spPr>
          <a:xfrm>
            <a:off x="365760" y="109728"/>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62" name="Text 2"/>
          <p:cNvSpPr txBox="1"/>
          <p:nvPr/>
        </p:nvSpPr>
        <p:spPr>
          <a:xfrm>
            <a:off x="1051560" y="91440"/>
            <a:ext cx="5486400" cy="228600"/>
          </a:xfrm>
          <a:prstGeom prst="rect">
            <a:avLst/>
          </a:prstGeom>
          <a:noFill/>
          <a:ln/>
        </p:spPr>
        <p:txBody>
          <a:bodyPr wrap="square" lIns="0" tIns="0" rIns="0" bIns="0" rtlCol="0" anchor="ctr"/>
          <a:lstStyle/>
          <a:p>
            <a:pPr marL="0" indent="0">
              <a:buNone/>
            </a:pPr>
            <a:r>
              <a:rPr lang="en-US" sz="1100" b="1" kern="0" spc="300" dirty="0">
                <a:solidFill>
                  <a:srgbClr val="8A5A00"/>
                </a:solidFill>
                <a:latin typeface="Calibri" pitchFamily="34" charset="0"/>
                <a:ea typeface="Calibri" pitchFamily="34" charset="-122"/>
                <a:cs typeface="Calibri" pitchFamily="34" charset="-120"/>
              </a:rPr>
              <a:t>IMPLEMENTATION  |  FULL CODE</a:t>
            </a:r>
            <a:endParaRPr lang="en-US" sz="1200" dirty="0"/>
          </a:p>
        </p:txBody>
      </p:sp>
      <p:sp>
        <p:nvSpPr>
          <p:cNvPr id="63" name="Text 3"/>
          <p:cNvSpPr txBox="1"/>
          <p:nvPr/>
        </p:nvSpPr>
        <p:spPr>
          <a:xfrm>
            <a:off x="1051560" y="301752"/>
            <a:ext cx="7315200" cy="411480"/>
          </a:xfrm>
          <a:prstGeom prst="rect">
            <a:avLst/>
          </a:prstGeom>
          <a:noFill/>
          <a:ln/>
        </p:spPr>
        <p:txBody>
          <a:bodyPr wrap="square" lIns="0" tIns="0" rIns="0" bIns="0" rtlCol="0" anchor="ctr"/>
          <a:lstStyle/>
          <a:p>
            <a:pPr marL="0" indent="0">
              <a:buNone/>
            </a:pPr>
            <a:r>
              <a:rPr lang="en-US" sz="2200" b="1" dirty="0">
                <a:solidFill>
                  <a:srgbClr val="14332B"/>
                </a:solidFill>
                <a:latin typeface="Cambria" pitchFamily="34" charset="0"/>
                <a:ea typeface="Cambria" pitchFamily="34" charset="-122"/>
                <a:cs typeface="Cambria" pitchFamily="34" charset="-120"/>
              </a:rPr>
              <a:t>Full Code (2 of 2)</a:t>
            </a:r>
            <a:endParaRPr lang="en-US" sz="3000" dirty="0"/>
          </a:p>
        </p:txBody>
      </p:sp>
    </p:spTree>
    <p:extLst>
      <p:ext uri="{BB962C8B-B14F-4D97-AF65-F5344CB8AC3E}">
        <p14:creationId xmlns:p14="http://schemas.microsoft.com/office/powerpoint/2010/main" val="960814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640080" cy="640080"/>
          </a:xfrm>
          <a:prstGeom prst="ellipse">
            <a:avLst/>
          </a:prstGeom>
          <a:solidFill>
            <a:srgbClr val="1F6F4F"/>
          </a:solidFill>
          <a:ln w="12700">
            <a:solidFill>
              <a:srgbClr val="1F6F4F"/>
            </a:solidFill>
            <a:prstDash val="solid"/>
          </a:ln>
        </p:spPr>
      </p:sp>
      <p:sp>
        <p:nvSpPr>
          <p:cNvPr id="3" name="Text 1"/>
          <p:cNvSpPr txBox="1"/>
          <p:nvPr/>
        </p:nvSpPr>
        <p:spPr>
          <a:xfrm>
            <a:off x="457200" y="4114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4" name="Text 2"/>
          <p:cNvSpPr txBox="1"/>
          <p:nvPr/>
        </p:nvSpPr>
        <p:spPr>
          <a:xfrm>
            <a:off x="1325880" y="365760"/>
            <a:ext cx="5486400" cy="274320"/>
          </a:xfrm>
          <a:prstGeom prst="rect">
            <a:avLst/>
          </a:prstGeom>
          <a:noFill/>
          <a:ln/>
        </p:spPr>
        <p:txBody>
          <a:bodyPr wrap="square" lIns="0" tIns="0" rIns="0" bIns="0" rtlCol="0" anchor="ctr"/>
          <a:lstStyle/>
          <a:p>
            <a:pPr marL="0" indent="0">
              <a:buNone/>
            </a:pPr>
            <a:r>
              <a:rPr lang="en-US" sz="1200" b="1" kern="0" spc="300" dirty="0">
                <a:solidFill>
                  <a:srgbClr val="8A5A00"/>
                </a:solidFill>
                <a:latin typeface="Calibri" pitchFamily="34" charset="0"/>
                <a:ea typeface="Calibri" pitchFamily="34" charset="-122"/>
                <a:cs typeface="Calibri" pitchFamily="34" charset="-120"/>
              </a:rPr>
              <a:t>OUTPUT</a:t>
            </a:r>
            <a:endParaRPr lang="en-US" sz="1200" dirty="0"/>
          </a:p>
        </p:txBody>
      </p:sp>
      <p:sp>
        <p:nvSpPr>
          <p:cNvPr id="5" name="Text 3"/>
          <p:cNvSpPr txBox="1"/>
          <p:nvPr/>
        </p:nvSpPr>
        <p:spPr>
          <a:xfrm>
            <a:off x="1325880" y="621792"/>
            <a:ext cx="7315200" cy="502920"/>
          </a:xfrm>
          <a:prstGeom prst="rect">
            <a:avLst/>
          </a:prstGeom>
          <a:noFill/>
          <a:ln/>
        </p:spPr>
        <p:txBody>
          <a:bodyPr wrap="square" lIns="0" tIns="0" rIns="0" bIns="0" rtlCol="0" anchor="ctr"/>
          <a:lstStyle/>
          <a:p>
            <a:pPr marL="0" indent="0">
              <a:buNone/>
            </a:pPr>
            <a:r>
              <a:rPr lang="en-US" sz="3000" b="1" dirty="0">
                <a:solidFill>
                  <a:srgbClr val="14332B"/>
                </a:solidFill>
                <a:latin typeface="Cambria" pitchFamily="34" charset="0"/>
                <a:ea typeface="Cambria" pitchFamily="34" charset="-122"/>
                <a:cs typeface="Cambria" pitchFamily="34" charset="-120"/>
              </a:rPr>
              <a:t>Output Screenshots</a:t>
            </a:r>
            <a:endParaRPr lang="en-US" sz="3000" dirty="0"/>
          </a:p>
        </p:txBody>
      </p:sp>
      <p:sp>
        <p:nvSpPr>
          <p:cNvPr id="6" name="Shape 4"/>
          <p:cNvSpPr/>
          <p:nvPr/>
        </p:nvSpPr>
        <p:spPr>
          <a:xfrm>
            <a:off x="457200" y="1463040"/>
            <a:ext cx="3840480" cy="2651760"/>
          </a:xfrm>
          <a:prstGeom prst="rect">
            <a:avLst/>
          </a:prstGeom>
          <a:solidFill>
            <a:srgbClr val="F4F7F5"/>
          </a:solidFill>
          <a:ln w="19050">
            <a:solidFill>
              <a:srgbClr val="7A8F84"/>
            </a:solidFill>
            <a:prstDash val="dash"/>
          </a:ln>
        </p:spPr>
      </p:sp>
      <p:sp>
        <p:nvSpPr>
          <p:cNvPr id="8" name="Text 6"/>
          <p:cNvSpPr txBox="1"/>
          <p:nvPr/>
        </p:nvSpPr>
        <p:spPr>
          <a:xfrm>
            <a:off x="457200" y="4251960"/>
            <a:ext cx="3840480" cy="365760"/>
          </a:xfrm>
          <a:prstGeom prst="rect">
            <a:avLst/>
          </a:prstGeom>
          <a:noFill/>
          <a:ln/>
        </p:spPr>
        <p:txBody>
          <a:bodyPr wrap="square" lIns="0" tIns="0" rIns="0" bIns="0" rtlCol="0" anchor="ctr"/>
          <a:lstStyle/>
          <a:p>
            <a:pPr marL="0" indent="0">
              <a:buNone/>
            </a:pPr>
            <a:r>
              <a:rPr lang="en-US" sz="1400" b="1" dirty="0">
                <a:solidFill>
                  <a:srgbClr val="14332B"/>
                </a:solidFill>
                <a:latin typeface="Calibri" pitchFamily="34" charset="0"/>
                <a:ea typeface="Calibri" pitchFamily="34" charset="-122"/>
                <a:cs typeface="Calibri" pitchFamily="34" charset="-120"/>
              </a:rPr>
              <a:t>Screenshot 1: Grade report</a:t>
            </a:r>
            <a:endParaRPr lang="en-US" sz="1400" dirty="0"/>
          </a:p>
        </p:txBody>
      </p:sp>
      <p:sp>
        <p:nvSpPr>
          <p:cNvPr id="9" name="Shape 7"/>
          <p:cNvSpPr/>
          <p:nvPr/>
        </p:nvSpPr>
        <p:spPr>
          <a:xfrm>
            <a:off x="4846320" y="1463040"/>
            <a:ext cx="3840480" cy="2651760"/>
          </a:xfrm>
          <a:prstGeom prst="rect">
            <a:avLst/>
          </a:prstGeom>
          <a:solidFill>
            <a:srgbClr val="F4F7F5"/>
          </a:solidFill>
          <a:ln w="19050">
            <a:solidFill>
              <a:srgbClr val="7A8F84"/>
            </a:solidFill>
            <a:prstDash val="dash"/>
          </a:ln>
        </p:spPr>
      </p:sp>
      <p:sp>
        <p:nvSpPr>
          <p:cNvPr id="11" name="Text 9"/>
          <p:cNvSpPr txBox="1"/>
          <p:nvPr/>
        </p:nvSpPr>
        <p:spPr>
          <a:xfrm>
            <a:off x="4846320" y="4251960"/>
            <a:ext cx="3840480" cy="365760"/>
          </a:xfrm>
          <a:prstGeom prst="rect">
            <a:avLst/>
          </a:prstGeom>
          <a:noFill/>
          <a:ln/>
        </p:spPr>
        <p:txBody>
          <a:bodyPr wrap="square" lIns="0" tIns="0" rIns="0" bIns="0" rtlCol="0" anchor="ctr"/>
          <a:lstStyle/>
          <a:p>
            <a:pPr marL="0" indent="0">
              <a:buNone/>
            </a:pPr>
            <a:r>
              <a:rPr lang="en-US" sz="1400" b="1" dirty="0">
                <a:solidFill>
                  <a:srgbClr val="14332B"/>
                </a:solidFill>
                <a:latin typeface="Calibri" pitchFamily="34" charset="0"/>
                <a:ea typeface="Calibri" pitchFamily="34" charset="-122"/>
                <a:cs typeface="Calibri" pitchFamily="34" charset="-120"/>
              </a:rPr>
              <a:t>Screenshot 2: Class summary and roll search</a:t>
            </a:r>
            <a:endParaRPr lang="en-US" sz="1400" dirty="0"/>
          </a:p>
        </p:txBody>
      </p:sp>
      <p:pic>
        <p:nvPicPr>
          <p:cNvPr id="15" name="Picture 14">
            <a:extLst>
              <a:ext uri="{FF2B5EF4-FFF2-40B4-BE49-F238E27FC236}">
                <a16:creationId xmlns:a16="http://schemas.microsoft.com/office/drawing/2014/main" id="{50EE14DA-5505-1229-FD83-F7DDDDB5AA91}"/>
              </a:ext>
            </a:extLst>
          </p:cNvPr>
          <p:cNvPicPr>
            <a:picLocks noChangeAspect="1"/>
          </p:cNvPicPr>
          <p:nvPr/>
        </p:nvPicPr>
        <p:blipFill>
          <a:blip r:embed="rId3"/>
          <a:stretch>
            <a:fillRect/>
          </a:stretch>
        </p:blipFill>
        <p:spPr>
          <a:xfrm>
            <a:off x="5272910" y="1527699"/>
            <a:ext cx="2987299" cy="2522439"/>
          </a:xfrm>
          <a:prstGeom prst="rect">
            <a:avLst/>
          </a:prstGeom>
        </p:spPr>
      </p:pic>
      <p:pic>
        <p:nvPicPr>
          <p:cNvPr id="17" name="Picture 16">
            <a:extLst>
              <a:ext uri="{FF2B5EF4-FFF2-40B4-BE49-F238E27FC236}">
                <a16:creationId xmlns:a16="http://schemas.microsoft.com/office/drawing/2014/main" id="{DB815107-6FB6-9490-91AD-0B6726F2B4FB}"/>
              </a:ext>
            </a:extLst>
          </p:cNvPr>
          <p:cNvPicPr>
            <a:picLocks noChangeAspect="1"/>
          </p:cNvPicPr>
          <p:nvPr/>
        </p:nvPicPr>
        <p:blipFill>
          <a:blip r:embed="rId4"/>
          <a:stretch>
            <a:fillRect/>
          </a:stretch>
        </p:blipFill>
        <p:spPr>
          <a:xfrm>
            <a:off x="457200" y="2114491"/>
            <a:ext cx="3840480" cy="13488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4332B"/>
        </a:solidFill>
        <a:effectLst/>
      </p:bgPr>
    </p:bg>
    <p:spTree>
      <p:nvGrpSpPr>
        <p:cNvPr id="1" name=""/>
        <p:cNvGrpSpPr/>
        <p:nvPr/>
      </p:nvGrpSpPr>
      <p:grpSpPr>
        <a:xfrm>
          <a:off x="0" y="0"/>
          <a:ext cx="0" cy="0"/>
          <a:chOff x="0" y="0"/>
          <a:chExt cx="0" cy="0"/>
        </a:xfrm>
      </p:grpSpPr>
      <p:sp>
        <p:nvSpPr>
          <p:cNvPr id="2" name="Shape 0"/>
          <p:cNvSpPr/>
          <p:nvPr/>
        </p:nvSpPr>
        <p:spPr>
          <a:xfrm>
            <a:off x="457200" y="411480"/>
            <a:ext cx="640080" cy="640080"/>
          </a:xfrm>
          <a:prstGeom prst="ellipse">
            <a:avLst/>
          </a:prstGeom>
          <a:solidFill>
            <a:srgbClr val="E9A820"/>
          </a:solidFill>
          <a:ln w="12700">
            <a:solidFill>
              <a:srgbClr val="E9A820"/>
            </a:solidFill>
            <a:prstDash val="solid"/>
          </a:ln>
        </p:spPr>
      </p:sp>
      <p:sp>
        <p:nvSpPr>
          <p:cNvPr id="3" name="Text 1"/>
          <p:cNvSpPr txBox="1"/>
          <p:nvPr/>
        </p:nvSpPr>
        <p:spPr>
          <a:xfrm>
            <a:off x="457200" y="411480"/>
            <a:ext cx="640080" cy="640080"/>
          </a:xfrm>
          <a:prstGeom prst="rect">
            <a:avLst/>
          </a:prstGeom>
          <a:noFill/>
          <a:ln/>
        </p:spPr>
        <p:txBody>
          <a:bodyPr wrap="square" lIns="0" tIns="0" rIns="0" bIns="0" rtlCol="0" anchor="ctr"/>
          <a:lstStyle/>
          <a:p>
            <a:pPr marL="0" indent="0" algn="ctr">
              <a:buNone/>
            </a:pPr>
            <a:r>
              <a:rPr lang="en-US" sz="2400" b="1" dirty="0">
                <a:solidFill>
                  <a:srgbClr val="14332B"/>
                </a:solidFill>
                <a:latin typeface="Cambria" pitchFamily="34" charset="0"/>
                <a:ea typeface="Cambria" pitchFamily="34" charset="-122"/>
                <a:cs typeface="Cambria" pitchFamily="34" charset="-120"/>
              </a:rPr>
              <a:t>5</a:t>
            </a:r>
            <a:endParaRPr lang="en-US" sz="2400" dirty="0"/>
          </a:p>
        </p:txBody>
      </p:sp>
      <p:sp>
        <p:nvSpPr>
          <p:cNvPr id="4" name="Text 2"/>
          <p:cNvSpPr txBox="1"/>
          <p:nvPr/>
        </p:nvSpPr>
        <p:spPr>
          <a:xfrm>
            <a:off x="1325880" y="365760"/>
            <a:ext cx="5486400" cy="274320"/>
          </a:xfrm>
          <a:prstGeom prst="rect">
            <a:avLst/>
          </a:prstGeom>
          <a:noFill/>
          <a:ln/>
        </p:spPr>
        <p:txBody>
          <a:bodyPr wrap="square" lIns="0" tIns="0" rIns="0" bIns="0" rtlCol="0" anchor="ctr"/>
          <a:lstStyle/>
          <a:p>
            <a:pPr marL="0" indent="0">
              <a:buNone/>
            </a:pPr>
            <a:r>
              <a:rPr lang="en-US" sz="1200" b="1" kern="0" spc="300" dirty="0">
                <a:solidFill>
                  <a:srgbClr val="A8D5BA"/>
                </a:solidFill>
                <a:latin typeface="Calibri" pitchFamily="34" charset="0"/>
                <a:ea typeface="Calibri" pitchFamily="34" charset="-122"/>
                <a:cs typeface="Calibri" pitchFamily="34" charset="-120"/>
              </a:rPr>
              <a:t>CONCLUSION &amp; FUTURE WORK</a:t>
            </a:r>
            <a:endParaRPr lang="en-US" sz="1200" dirty="0"/>
          </a:p>
        </p:txBody>
      </p:sp>
      <p:sp>
        <p:nvSpPr>
          <p:cNvPr id="5" name="Text 3"/>
          <p:cNvSpPr txBox="1"/>
          <p:nvPr/>
        </p:nvSpPr>
        <p:spPr>
          <a:xfrm>
            <a:off x="1325880" y="621792"/>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&amp; Future Work</a:t>
            </a:r>
            <a:endParaRPr lang="en-US" sz="3000" dirty="0"/>
          </a:p>
        </p:txBody>
      </p:sp>
      <p:sp>
        <p:nvSpPr>
          <p:cNvPr id="6" name="Text 4"/>
          <p:cNvSpPr txBox="1"/>
          <p:nvPr/>
        </p:nvSpPr>
        <p:spPr>
          <a:xfrm>
            <a:off x="457200" y="1463040"/>
            <a:ext cx="3840480" cy="320040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The system replaces manual grade and attendance registers with one program that computes results consistently and flags attendance problems early. Building it applied the first three modules of the course in a single working program.</a:t>
            </a:r>
            <a:endParaRPr lang="en-US" sz="1700" dirty="0"/>
          </a:p>
        </p:txBody>
      </p:sp>
      <p:sp>
        <p:nvSpPr>
          <p:cNvPr id="7" name="Shape 5"/>
          <p:cNvSpPr/>
          <p:nvPr/>
        </p:nvSpPr>
        <p:spPr>
          <a:xfrm>
            <a:off x="4846320" y="1463040"/>
            <a:ext cx="3840480" cy="3200400"/>
          </a:xfrm>
          <a:prstGeom prst="roundRect">
            <a:avLst>
              <a:gd name="adj" fmla="val 3429"/>
            </a:avLst>
          </a:prstGeom>
          <a:solidFill>
            <a:srgbClr val="1F6F4F"/>
          </a:solidFill>
          <a:ln w="12700">
            <a:solidFill>
              <a:srgbClr val="1F6F4F"/>
            </a:solidFill>
            <a:prstDash val="solid"/>
          </a:ln>
        </p:spPr>
      </p:sp>
      <p:sp>
        <p:nvSpPr>
          <p:cNvPr id="8" name="Text 6"/>
          <p:cNvSpPr txBox="1"/>
          <p:nvPr/>
        </p:nvSpPr>
        <p:spPr>
          <a:xfrm>
            <a:off x="5074920" y="1645920"/>
            <a:ext cx="3383280" cy="411480"/>
          </a:xfrm>
          <a:prstGeom prst="rect">
            <a:avLst/>
          </a:prstGeom>
          <a:noFill/>
          <a:ln/>
        </p:spPr>
        <p:txBody>
          <a:bodyPr wrap="square" lIns="0" tIns="0" rIns="0" bIns="0" rtlCol="0" anchor="ctr"/>
          <a:lstStyle/>
          <a:p>
            <a:pPr marL="0" indent="0">
              <a:buNone/>
            </a:pPr>
            <a:r>
              <a:rPr lang="en-US" sz="2200" b="1" dirty="0">
                <a:solidFill>
                  <a:srgbClr val="E9A820"/>
                </a:solidFill>
                <a:latin typeface="Cambria" pitchFamily="34" charset="0"/>
                <a:ea typeface="Cambria" pitchFamily="34" charset="-122"/>
                <a:cs typeface="Cambria" pitchFamily="34" charset="-120"/>
              </a:rPr>
              <a:t>Future work</a:t>
            </a:r>
            <a:endParaRPr lang="en-US" sz="2200" dirty="0"/>
          </a:p>
        </p:txBody>
      </p:sp>
      <p:sp>
        <p:nvSpPr>
          <p:cNvPr id="9" name="Text 7"/>
          <p:cNvSpPr txBox="1"/>
          <p:nvPr/>
        </p:nvSpPr>
        <p:spPr>
          <a:xfrm>
            <a:off x="5074920" y="2194560"/>
            <a:ext cx="3383280" cy="23317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Classes and file storage using OOP and file I/O</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Graphical interface with JavaFX or Swing</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Database storage using JDBC</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Login roles for faculty and students</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Email alerts for attendance shortage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577</Words>
  <Application>Microsoft Office PowerPoint</Application>
  <PresentationFormat>On-screen Show (16:9)</PresentationFormat>
  <Paragraphs>104</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University Grade and Attendance System</dc:title>
  <dc:subject>PptxGenJS Presentation</dc:subject>
  <dc:creator>PptxGenJS</dc:creator>
  <cp:lastModifiedBy>aviyah.bonela@outlook.com</cp:lastModifiedBy>
  <cp:revision>2</cp:revision>
  <dcterms:created xsi:type="dcterms:W3CDTF">2026-09-19T16:48:39Z</dcterms:created>
  <dcterms:modified xsi:type="dcterms:W3CDTF">2026-09-19T17:25:40Z</dcterms:modified>
</cp:coreProperties>
</file>